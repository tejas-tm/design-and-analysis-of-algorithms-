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D8"/>
                </a:solidFill>
                <a:latin typeface="Arial"/>
              </a:defRPr>
            </a:pPr>
            <a:r>
              <a:t>COMPUTER SCIENCE &amp; GRAPH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0F4F8"/>
                </a:solidFill>
                <a:latin typeface="Georgia"/>
              </a:defRPr>
            </a:pPr>
            <a:r>
              <a:t>Bellman–Ford Shortest Path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47472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0A4AE"/>
                </a:solidFill>
                <a:latin typeface="Arial"/>
              </a:defRPr>
            </a:pPr>
            <a:r>
              <a:t>Single-Source Shortest Paths, Edge Relaxation Dynamics, and Negative Cycle Detection</a:t>
            </a:r>
          </a:p>
          <a:p>
            <a:pPr>
              <a:spcBef>
                <a:spcPts val="1400"/>
              </a:spcBef>
              <a:defRPr sz="1400" b="1">
                <a:solidFill>
                  <a:srgbClr val="FFD166"/>
                </a:solidFill>
                <a:latin typeface="Arial"/>
              </a:defRPr>
            </a:pPr>
            <a:r>
              <a:t>Key Concepts: O(V · E) Complexity  |  Edge Relaxation  |  Negative Weights Allowed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BELLMAN–FORD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Georgia"/>
              </a:defRPr>
            </a:pPr>
            <a:r>
              <a:t>Single-Source Shortest Paths via Continuous Edge Relaxation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9050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A3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2000" b="1">
                <a:solidFill>
                  <a:srgbClr val="FFD166"/>
                </a:solidFill>
                <a:latin typeface="Georgia"/>
              </a:defRPr>
            </a:pPr>
            <a:r>
              <a:t>1. Distance Array Initialization</a:t>
            </a:r>
          </a:p>
          <a:p>
            <a:pPr>
              <a:spcBef>
                <a:spcPts val="1200"/>
              </a:spcBef>
              <a:defRPr sz="1400">
                <a:solidFill>
                  <a:srgbClr val="F0F4F8"/>
                </a:solidFill>
                <a:latin typeface="Arial"/>
              </a:defRPr>
            </a:pPr>
            <a:r>
              <a:t>• Single-Source Goal: Finds shortest distance from start vertex S to all other reachable vertices in a weighted graph.</a:t>
            </a:r>
          </a:p>
          <a:p>
            <a:pPr>
              <a:spcBef>
                <a:spcPts val="1200"/>
              </a:spcBef>
              <a:defRPr sz="1400">
                <a:solidFill>
                  <a:srgbClr val="F0F4F8"/>
                </a:solidFill>
                <a:latin typeface="Arial"/>
              </a:defRPr>
            </a:pPr>
            <a:r>
              <a:t>• Initial Estimates: Set dist[S] = 0 for the source vertex.</a:t>
            </a:r>
          </a:p>
          <a:p>
            <a:pPr>
              <a:spcBef>
                <a:spcPts val="1200"/>
              </a:spcBef>
              <a:defRPr sz="1400">
                <a:solidFill>
                  <a:srgbClr val="F0F4F8"/>
                </a:solidFill>
                <a:latin typeface="Arial"/>
              </a:defRPr>
            </a:pPr>
            <a:r>
              <a:t>• Unreachable Baseline: Set dist[v] = ∞ for every other vertex v in V.</a:t>
            </a:r>
          </a:p>
          <a:p>
            <a:pPr>
              <a:spcBef>
                <a:spcPts val="1200"/>
              </a:spcBef>
              <a:defRPr sz="1400">
                <a:solidFill>
                  <a:srgbClr val="F0F4F8"/>
                </a:solidFill>
                <a:latin typeface="Arial"/>
              </a:defRPr>
            </a:pPr>
            <a:r>
              <a:t>• Predecessor Tracking: Initialize parent[v] = NIL to reconstruct the actual shortest path after convergence.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422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2000" b="1">
                <a:solidFill>
                  <a:srgbClr val="00B4D8"/>
                </a:solidFill>
                <a:latin typeface="Georgia"/>
              </a:defRPr>
            </a:pPr>
            <a:r>
              <a:t>2. The Edge Relaxation Formula</a:t>
            </a:r>
          </a:p>
          <a:p>
            <a:pPr>
              <a:spcBef>
                <a:spcPts val="1000"/>
              </a:spcBef>
              <a:defRPr sz="1400">
                <a:solidFill>
                  <a:srgbClr val="90A4AE"/>
                </a:solidFill>
                <a:latin typeface="Arial"/>
              </a:defRPr>
            </a:pPr>
            <a:r>
              <a:t>For every directed edge (u, v) with weight w:</a:t>
            </a:r>
          </a:p>
          <a:p>
            <a:pPr>
              <a:spcBef>
                <a:spcPts val="1400"/>
              </a:spcBef>
              <a:defRPr sz="1400">
                <a:solidFill>
                  <a:srgbClr val="F0F4F8"/>
                </a:solidFill>
                <a:latin typeface="Arial"/>
              </a:defRPr>
            </a:pPr>
            <a:r>
              <a:t>• Core Intuition: If reaching node v through node u yields a shorter total distance than previously recorded, update dist[v].</a:t>
            </a:r>
          </a:p>
          <a:p>
            <a:pPr>
              <a:spcBef>
                <a:spcPts val="1400"/>
              </a:spcBef>
              <a:defRPr sz="1400">
                <a:solidFill>
                  <a:srgbClr val="F0F4F8"/>
                </a:solidFill>
                <a:latin typeface="Arial"/>
              </a:defRPr>
            </a:pPr>
            <a:r>
              <a:t>• Overcoming Negative Edges: Unlike greedy algorithms, relaxation gradually pulls distance values down even through negative weight edges.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834640"/>
            <a:ext cx="4693615" cy="1005840"/>
          </a:xfrm>
          <a:prstGeom prst="roundRect">
            <a:avLst/>
          </a:prstGeom>
          <a:solidFill>
            <a:srgbClr val="2A385B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D166"/>
                </a:solidFill>
                <a:latin typeface="Courier New"/>
              </a:defRPr>
            </a:pPr>
            <a:r>
              <a:t>if dist[u] + weight(u, v) &lt; dist[v]:</a:t>
            </a:r>
            <a:br/>
            <a:r>
              <a:t>    dist[v] = dist[u] + weight(u, 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BELLMAN–FORD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Georgia"/>
              </a:defRPr>
            </a:pPr>
            <a:r>
              <a:t>Iterating V - 1 Times Guarantees Shortest Path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9050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30175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800" b="1">
                <a:solidFill>
                  <a:srgbClr val="00B4D8"/>
                </a:solidFill>
                <a:latin typeface="Georgia"/>
              </a:defRPr>
            </a:pPr>
            <a:r>
              <a:t>Step 1: Initialize</a:t>
            </a:r>
          </a:p>
          <a:p>
            <a:pPr>
              <a:spcBef>
                <a:spcPts val="1200"/>
              </a:spcBef>
              <a:defRPr sz="1300">
                <a:solidFill>
                  <a:srgbClr val="F0F4F8"/>
                </a:solidFill>
                <a:latin typeface="Arial"/>
              </a:defRPr>
            </a:pPr>
            <a:r>
              <a:t>Set dist[source] = 0</a:t>
            </a:r>
            <a:br/>
            <a:r>
              <a:t>Set dist[v] = ∞ for v ≠ source</a:t>
            </a:r>
            <a:br/>
            <a:br/>
            <a:r>
              <a:t>Execution Time: O(V)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30175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800" b="1">
                <a:solidFill>
                  <a:srgbClr val="FFD166"/>
                </a:solidFill>
                <a:latin typeface="Georgia"/>
              </a:defRPr>
            </a:pPr>
            <a:r>
              <a:t>Step 2: Relax V - 1 Times</a:t>
            </a:r>
          </a:p>
          <a:p>
            <a:pPr>
              <a:spcBef>
                <a:spcPts val="1200"/>
              </a:spcBef>
              <a:defRPr sz="1300">
                <a:solidFill>
                  <a:srgbClr val="F0F4F8"/>
                </a:solidFill>
                <a:latin typeface="Arial"/>
              </a:defRPr>
            </a:pPr>
            <a:r>
              <a:t>Loop |V| - 1 times:</a:t>
            </a:r>
            <a:br/>
            <a:r>
              <a:t>  For each edge (u, v) with weight w:</a:t>
            </a:r>
            <a:br/>
            <a:r>
              <a:t>    Relax(u, v, w)</a:t>
            </a:r>
            <a:br/>
            <a:br/>
            <a:r>
              <a:t>Execution Time: O(V · 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30175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800" b="1">
                <a:solidFill>
                  <a:srgbClr val="EF476F"/>
                </a:solidFill>
                <a:latin typeface="Georgia"/>
              </a:defRPr>
            </a:pPr>
            <a:r>
              <a:t>Step 3: Verify &amp; Detect</a:t>
            </a:r>
          </a:p>
          <a:p>
            <a:pPr>
              <a:spcBef>
                <a:spcPts val="1200"/>
              </a:spcBef>
              <a:defRPr sz="1300">
                <a:solidFill>
                  <a:srgbClr val="F0F4F8"/>
                </a:solidFill>
                <a:latin typeface="Arial"/>
              </a:defRPr>
            </a:pPr>
            <a:r>
              <a:t>Loop over each edge (u, v):</a:t>
            </a:r>
            <a:br/>
            <a:r>
              <a:t>  If dist[u] + w &lt; dist[v]:</a:t>
            </a:r>
            <a:br/>
            <a:r>
              <a:t>    Signal Negative Cycle!</a:t>
            </a:r>
            <a:br/>
            <a:br/>
            <a:r>
              <a:t>Execution Time: O(E)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728655" cy="1188720"/>
          </a:xfrm>
          <a:prstGeom prst="roundRect">
            <a:avLst/>
          </a:prstGeom>
          <a:solidFill>
            <a:srgbClr val="2A385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D166"/>
                </a:solidFill>
                <a:latin typeface="Georgia"/>
              </a:defRPr>
            </a:pPr>
            <a:r>
              <a:t>Mathematical Guarantee: Why exactly V - 1 passes?</a:t>
            </a:r>
          </a:p>
          <a:p>
            <a:pPr>
              <a:spcBef>
                <a:spcPts val="400"/>
              </a:spcBef>
              <a:defRPr sz="1200">
                <a:solidFill>
                  <a:srgbClr val="F0F4F8"/>
                </a:solidFill>
                <a:latin typeface="Arial"/>
              </a:defRPr>
            </a:pPr>
            <a:r>
              <a:t>In any graph without negative cycles, the shortest path between any two vertices is a simple path containing at most |V| - 1 edges. Since each relaxation pass guarantees that paths of length k are correctly calculated, repeating relaxation |V| - 1 times guarantees all shortest paths propagate completely.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BELLMAN–FORD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Georgia"/>
              </a:defRPr>
            </a:pPr>
            <a:r>
              <a:t>Step-by-Step Execution Trace on a Directed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9050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8404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2000" b="1">
                <a:solidFill>
                  <a:srgbClr val="00B4D8"/>
                </a:solidFill>
                <a:latin typeface="Georgia"/>
              </a:defRPr>
            </a:pPr>
            <a:r>
              <a:t>Graph Specification</a:t>
            </a:r>
          </a:p>
          <a:p>
            <a:pPr>
              <a:spcBef>
                <a:spcPts val="400"/>
              </a:spcBef>
              <a:defRPr sz="1300" b="1">
                <a:solidFill>
                  <a:srgbClr val="FFD166"/>
                </a:solidFill>
                <a:latin typeface="Arial"/>
              </a:defRPr>
            </a:pPr>
            <a:r>
              <a:t>Vertices V = {A, B, C, D}</a:t>
            </a:r>
          </a:p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  <a:latin typeface="Arial"/>
              </a:defRPr>
            </a:pPr>
            <a:r>
              <a:t>Source Vertex = A</a:t>
            </a:r>
          </a:p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  <a:latin typeface="Arial"/>
              </a:defRPr>
            </a:pPr>
            <a:r>
              <a:t>Directed Edges &amp; Weights:</a:t>
            </a:r>
          </a:p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  <a:latin typeface="Arial"/>
              </a:defRPr>
            </a:pPr>
            <a:r>
              <a:t>  • A → B : weight  4</a:t>
            </a:r>
          </a:p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  <a:latin typeface="Arial"/>
              </a:defRPr>
            </a:pPr>
            <a:r>
              <a:t>  • A → C : weight  5</a:t>
            </a:r>
          </a:p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  <a:latin typeface="Arial"/>
              </a:defRPr>
            </a:pPr>
            <a:r>
              <a:t>  • B → C : weight -2</a:t>
            </a:r>
          </a:p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  <a:latin typeface="Arial"/>
              </a:defRPr>
            </a:pPr>
            <a:r>
              <a:t>  • C → D : weight  3</a:t>
            </a:r>
          </a:p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FFD166"/>
                </a:solidFill>
                <a:latin typeface="Arial"/>
              </a:defRPr>
            </a:pPr>
            <a:r>
              <a:t>Target Goal:</a:t>
            </a:r>
          </a:p>
          <a:p>
            <a:pPr>
              <a:spcBef>
                <a:spcPts val="400"/>
              </a:spcBef>
              <a:defRPr sz="1300">
                <a:solidFill>
                  <a:srgbClr val="F0F4F8"/>
                </a:solidFill>
                <a:latin typeface="Arial"/>
              </a:defRPr>
            </a:pPr>
            <a:r>
              <a:t>Find shortest distance from source A to destination node 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46320" y="1737360"/>
          <a:ext cx="66138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855"/>
                <a:gridCol w="1143000"/>
                <a:gridCol w="1143000"/>
                <a:gridCol w="1143000"/>
                <a:gridCol w="114300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Iteration / Step</a:t>
                      </a:r>
                    </a:p>
                  </a:txBody>
                  <a:tcPr>
                    <a:solidFill>
                      <a:srgbClr val="2A3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dist[A]</a:t>
                      </a:r>
                    </a:p>
                  </a:txBody>
                  <a:tcPr>
                    <a:solidFill>
                      <a:srgbClr val="2A3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dist[B]</a:t>
                      </a:r>
                    </a:p>
                  </a:txBody>
                  <a:tcPr>
                    <a:solidFill>
                      <a:srgbClr val="2A3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dist[C]</a:t>
                      </a:r>
                    </a:p>
                  </a:txBody>
                  <a:tcPr>
                    <a:solidFill>
                      <a:srgbClr val="2A3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dist[D]</a:t>
                      </a:r>
                    </a:p>
                  </a:txBody>
                  <a:tcPr>
                    <a:solidFill>
                      <a:srgbClr val="2A385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Initialization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Discover B &amp; C (Pass 1)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4 (from A)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5 (from A)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Relax B → C (-2)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2 (4 + -2)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Relax C → D (3)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D166"/>
                          </a:solidFill>
                          <a:latin typeface="Arial"/>
                        </a:defRPr>
                      </a:pPr>
                      <a:r>
                        <a:t>5 (2 + 3)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846320" y="5029200"/>
            <a:ext cx="6613855" cy="1097280"/>
          </a:xfrm>
          <a:prstGeom prst="roundRect">
            <a:avLst/>
          </a:prstGeom>
          <a:solidFill>
            <a:srgbClr val="2A385B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400" b="1">
                <a:solidFill>
                  <a:srgbClr val="FFD166"/>
                </a:solidFill>
                <a:latin typeface="Georgia"/>
              </a:defRPr>
            </a:pPr>
            <a:r>
              <a:t>Final Shortest Path Result:</a:t>
            </a:r>
          </a:p>
          <a:p>
            <a:pPr>
              <a:spcBef>
                <a:spcPts val="400"/>
              </a:spcBef>
              <a:defRPr sz="1200">
                <a:solidFill>
                  <a:srgbClr val="F0F4F8"/>
                </a:solidFill>
                <a:latin typeface="Arial"/>
              </a:defRPr>
            </a:pPr>
            <a:r>
              <a:t>• Shortest Path to D: A → B → C → D  |  Total Weight = 4 + (-2) + 3 = 5</a:t>
            </a:r>
            <a:br/>
            <a:r>
              <a:t>• Direct path A → C → D has weight 5 + 3 = 8 (sub-optimal!).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BELLMAN–FORD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Georgia"/>
              </a:defRPr>
            </a:pPr>
            <a:r>
              <a:t>Pass V Detects Reachable Negative-Weight Cycles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9050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2000" b="1">
                <a:solidFill>
                  <a:srgbClr val="EF476F"/>
                </a:solidFill>
                <a:latin typeface="Georgia"/>
              </a:defRPr>
            </a:pPr>
            <a:r>
              <a:t>The Negative Cycle Dilemma</a:t>
            </a:r>
          </a:p>
          <a:p>
            <a:pPr>
              <a:spcBef>
                <a:spcPts val="1200"/>
              </a:spcBef>
              <a:defRPr sz="1350">
                <a:solidFill>
                  <a:srgbClr val="F0F4F8"/>
                </a:solidFill>
                <a:latin typeface="Arial"/>
              </a:defRPr>
            </a:pPr>
            <a:r>
              <a:t>• Negative Cycle Definition: A directed cycle where the sum of edge weights is strictly less than 0.</a:t>
            </a:r>
          </a:p>
          <a:p>
            <a:pPr>
              <a:spcBef>
                <a:spcPts val="1200"/>
              </a:spcBef>
              <a:defRPr sz="1350">
                <a:solidFill>
                  <a:srgbClr val="F0F4F8"/>
                </a:solidFill>
                <a:latin typeface="Arial"/>
              </a:defRPr>
            </a:pPr>
            <a:r>
              <a:t>• Infinite Optimization Loop: Traversing the negative cycle infinitely yields a path weight approaching -∞.</a:t>
            </a:r>
          </a:p>
          <a:p>
            <a:pPr>
              <a:spcBef>
                <a:spcPts val="1200"/>
              </a:spcBef>
              <a:defRPr sz="1350">
                <a:solidFill>
                  <a:srgbClr val="F0F4F8"/>
                </a:solidFill>
                <a:latin typeface="Arial"/>
              </a:defRPr>
            </a:pPr>
            <a:r>
              <a:t>• Mathematical Breakdown: Shortest paths become undefined because every traversal further reduces path distance.</a:t>
            </a:r>
          </a:p>
          <a:p>
            <a:pPr>
              <a:spcBef>
                <a:spcPts val="1200"/>
              </a:spcBef>
              <a:defRPr sz="1350">
                <a:solidFill>
                  <a:srgbClr val="F0F4F8"/>
                </a:solidFill>
                <a:latin typeface="Arial"/>
              </a:defRPr>
            </a:pPr>
            <a:r>
              <a:t>• Algorithm Failure without Detection: Standard shortest path algorithms spin infinitely or yield invalid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42255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2000" b="1">
                <a:solidFill>
                  <a:srgbClr val="00B4D8"/>
                </a:solidFill>
                <a:latin typeface="Georgia"/>
              </a:defRPr>
            </a:pPr>
            <a:r>
              <a:t>Detection Method: The V-th Pass</a:t>
            </a:r>
          </a:p>
          <a:p>
            <a:pPr>
              <a:spcBef>
                <a:spcPts val="1200"/>
              </a:spcBef>
              <a:defRPr sz="1350">
                <a:solidFill>
                  <a:srgbClr val="F0F4F8"/>
                </a:solidFill>
                <a:latin typeface="Arial"/>
              </a:defRPr>
            </a:pPr>
            <a:r>
              <a:t>• 1 Extra Edge Pass: After completing V - 1 relaxation iterations, execute one final check across all edges E.</a:t>
            </a:r>
          </a:p>
          <a:p>
            <a:pPr>
              <a:spcBef>
                <a:spcPts val="1200"/>
              </a:spcBef>
              <a:defRPr sz="1350">
                <a:solidFill>
                  <a:srgbClr val="F0F4F8"/>
                </a:solidFill>
                <a:latin typeface="Arial"/>
              </a:defRPr>
            </a:pPr>
            <a:r>
              <a:t>• Detection Criterion: If any edge (u, v) can STILL be relaxed (i.e. dist[u] + w &lt; dist[v]), a negative cycle exists!</a:t>
            </a:r>
          </a:p>
          <a:p>
            <a:pPr>
              <a:spcBef>
                <a:spcPts val="1200"/>
              </a:spcBef>
              <a:defRPr sz="1350">
                <a:solidFill>
                  <a:srgbClr val="F0F4F8"/>
                </a:solidFill>
                <a:latin typeface="Arial"/>
              </a:defRPr>
            </a:pPr>
            <a:r>
              <a:t>• Algorithm Response: Return false or throw an exception indicating negative-weight cycle presence.</a:t>
            </a:r>
          </a:p>
          <a:p>
            <a:pPr>
              <a:spcBef>
                <a:spcPts val="1200"/>
              </a:spcBef>
              <a:defRPr sz="1350">
                <a:solidFill>
                  <a:srgbClr val="F0F4F8"/>
                </a:solidFill>
                <a:latin typeface="Arial"/>
              </a:defRPr>
            </a:pPr>
            <a:r>
              <a:t>• Robustness Advantage: Provides clear diagnostic safety guarantees for financial networks and routing graphs.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BELLMAN–FORD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Georgia"/>
              </a:defRPr>
            </a:pPr>
            <a:r>
              <a:t>Algorithm Trade-Offs: Bellman–Ford vs. Dijkstra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19050"/>
          </a:xfrm>
          <a:prstGeom prst="rect">
            <a:avLst/>
          </a:prstGeom>
          <a:solidFill>
            <a:srgbClr val="2A3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D166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2A3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Bellman–Ford Algorithm</a:t>
                      </a:r>
                    </a:p>
                  </a:txBody>
                  <a:tcPr>
                    <a:solidFill>
                      <a:srgbClr val="2A3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B4D8"/>
                          </a:solidFill>
                          <a:latin typeface="Arial"/>
                        </a:defRPr>
                      </a:pPr>
                      <a:r>
                        <a:t>Dijkstra's Algorithm</a:t>
                      </a:r>
                    </a:p>
                  </a:txBody>
                  <a:tcPr>
                    <a:solidFill>
                      <a:srgbClr val="2A38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O(V · E)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D166"/>
                          </a:solidFill>
                          <a:latin typeface="Arial"/>
                        </a:defRPr>
                      </a:pPr>
                      <a:r>
                        <a:t>O((V + E) log V) [with Min-Heap]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O(V) [Distance &amp; Parent Arrays]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O(V) [Priority Queue]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Negative Edge Weights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D166"/>
                          </a:solidFill>
                          <a:latin typeface="Arial"/>
                        </a:defRPr>
                      </a:pPr>
                      <a:r>
                        <a:t>Supported Natively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F476F"/>
                          </a:solidFill>
                          <a:latin typeface="Arial"/>
                        </a:defRPr>
                      </a:pPr>
                      <a:r>
                        <a:t>Fails / Incorrect Path Results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Negative Cycle Check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D166"/>
                          </a:solidFill>
                          <a:latin typeface="Arial"/>
                        </a:defRPr>
                      </a:pPr>
                      <a:r>
                        <a:t>Detects Reachable Cycles (Pass V)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F476F"/>
                          </a:solidFill>
                          <a:latin typeface="Arial"/>
                        </a:defRPr>
                      </a:pPr>
                      <a:r>
                        <a:t>Cannot Detect Negative Cycles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Algorithmic Paradigm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Dynamic Programming / Iterative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4F8"/>
                          </a:solidFill>
                          <a:latin typeface="Arial"/>
                        </a:defRPr>
                      </a:pPr>
                      <a:r>
                        <a:t>Greedy Choice Strategy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212080"/>
            <a:ext cx="10728655" cy="10058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300" b="1">
                <a:solidFill>
                  <a:srgbClr val="00B4D8"/>
                </a:solidFill>
                <a:latin typeface="Georgia"/>
              </a:defRPr>
            </a:pPr>
            <a:r>
              <a:t>Key Engineering Takeaway:</a:t>
            </a:r>
          </a:p>
          <a:p>
            <a:pPr>
              <a:spcBef>
                <a:spcPts val="300"/>
              </a:spcBef>
              <a:defRPr sz="1150">
                <a:solidFill>
                  <a:srgbClr val="F0F4F8"/>
                </a:solidFill>
                <a:latin typeface="Arial"/>
              </a:defRPr>
            </a:pPr>
            <a:r>
              <a:t>Use Dijkstra's algorithm for speed when edge weights are strictly non-negative (e.g. GPS maps). Choose Bellman–Ford when handling potential negative weights, financial arbitrage modeling, or distance-vector network routing protocols (e.g. RIP).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